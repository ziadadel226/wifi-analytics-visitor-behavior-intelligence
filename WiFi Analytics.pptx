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Outfit Light"/>
      <p:regular r:id="rId24"/>
      <p:bold r:id="rId25"/>
    </p:embeddedFont>
    <p:embeddedFont>
      <p:font typeface="Outfit"/>
      <p:regular r:id="rId26"/>
      <p:bold r:id="rId27"/>
    </p:embeddedFont>
    <p:embeddedFont>
      <p:font typeface="Outfit SemiBold"/>
      <p:regular r:id="rId28"/>
      <p:bold r:id="rId29"/>
    </p:embeddedFont>
    <p:embeddedFont>
      <p:font typeface="Space Grotesk SemiBold"/>
      <p:regular r:id="rId30"/>
      <p:bold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utfitLigh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-regular.fntdata"/><Relationship Id="rId25" Type="http://schemas.openxmlformats.org/officeDocument/2006/relationships/font" Target="fonts/OutfitLight-bold.fntdata"/><Relationship Id="rId28" Type="http://schemas.openxmlformats.org/officeDocument/2006/relationships/font" Target="fonts/OutfitSemiBold-regular.fntdata"/><Relationship Id="rId27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utfi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SemiBold-bold.fntdata"/><Relationship Id="rId30" Type="http://schemas.openxmlformats.org/officeDocument/2006/relationships/font" Target="fonts/SpaceGrotesk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5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e5baaf3a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e5baaf3ad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e5baaf3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e5baaf3a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e5baaf3a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e5baaf3a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5baaf3a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e5baaf3ad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e5baaf3a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e5baaf3ad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e5baaf3a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ae5baaf3ad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2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3" Type="http://schemas.openxmlformats.org/officeDocument/2006/relationships/image" Target="../media/image9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0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48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5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49.png"/><Relationship Id="rId7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80319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WiFi Analytics Platform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2979390"/>
            <a:ext cx="8572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A </a:t>
            </a:r>
            <a:r>
              <a:rPr lang="en-US" sz="1800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 Data-Driven System to Analyze Customer Behavior, Movement, Engagement, and Network Quality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658218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DE8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ZIAD ADEL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762000"/>
            <a:ext cx="480060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Project Overview &amp; Goal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62000" y="1392435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2280344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Sources Connected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888009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We integrate Device Details, Session Timestamps, Movement Zones, Visit Frequencies, and Network Metrics to build a complete profile.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996630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Primary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04295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Analyze visitor behavior and network performance to improve operational efficiency and customer experience inside the venue.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94225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Tables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Visitor_Info, Visit_Info, Session_Info, Location_Info. Joined via device_id &amp; session_id.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572524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Methodology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SQL Server 2012 for heavy calculation and Python (Matplotlib/Seaborn) for advanced visualization.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350824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Output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Key Metrics answering critical business questions like Dwell Time, Peak Hours, and Disconnects.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1012" y="2924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3799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Architecture &amp; Methodology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94225" y="368617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Tables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4150965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Visitor_Info, Visit_Info, Session_Info, Location_Info. Joined via device_id &amp; session_id.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572524" y="368617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Methodology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45074" y="4150965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SQL Server 2012 for heavy calculation and Python (Matplotlib/Seaborn) for advanced visualization.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350824" y="368617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Output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23374" y="4150965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Key Metrics answering critical business questions like Dwell Time, Peak Hours, and Disconnects.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1012" y="2924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3799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Architecture &amp; Methodology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1275"/>
            <a:ext cx="11377149" cy="63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title="ERD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90062" y="1475625"/>
            <a:ext cx="9934949" cy="47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374325"/>
            <a:ext cx="96837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WiFi Analytics Database ERD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5895"/>
            <a:ext cx="3492549" cy="3547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65895"/>
            <a:ext cx="3492549" cy="3547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65895"/>
            <a:ext cx="3492549" cy="3547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94225" y="341367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Avg. </a:t>
            </a: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</a:t>
            </a: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Time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849885"/>
            <a:ext cx="29019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~92 Min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469761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High engagement; the venue retains visitors effectively.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4572524" y="341367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Repeat Visitors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5074" y="3849885"/>
            <a:ext cx="29019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94.9%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645074" y="469761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Exceptional Loyalty—a very strong base of returning customers.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350824" y="341367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Peak Hours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423374" y="3849885"/>
            <a:ext cx="29019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11, 5, 10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423374" y="4697610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Critical pressure points for staffing, services, and network load.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27200" y="26516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65167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07612" y="265167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Insights: Visitor Behavior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700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94225" y="341367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Avg. </a:t>
            </a: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</a:t>
            </a: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Time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66775" y="3849885"/>
            <a:ext cx="290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~92 Min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4697610"/>
            <a:ext cx="2901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High engagement; the venue retains visitors effectively.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546974" y="337497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Repeat Visitors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645074" y="3849885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3299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8350824" y="341367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Peak Hours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423374" y="3849885"/>
            <a:ext cx="290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11, 5, 10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423374" y="4697610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27200" y="26516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7612" y="265167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295200" y="5019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Insights: Visitor Behavior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8" title="output_27_1.png"/>
          <p:cNvPicPr preferRelativeResize="0"/>
          <p:nvPr/>
        </p:nvPicPr>
        <p:blipFill rotWithShape="1">
          <a:blip r:embed="rId8">
            <a:alphaModFix/>
          </a:blip>
          <a:srcRect b="27446" l="0" r="0" t="0"/>
          <a:stretch/>
        </p:blipFill>
        <p:spPr>
          <a:xfrm>
            <a:off x="6713975" y="2461175"/>
            <a:ext cx="4611300" cy="25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700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794225" y="3413670"/>
            <a:ext cx="30471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Repeat Visitors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8BDF8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849885"/>
            <a:ext cx="290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200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94.9%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rgbClr val="4ADE8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4697610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Exceptional Loyalty—a very strong base of returning customers.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BD5E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4572524" y="3413670"/>
            <a:ext cx="304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645074" y="3849885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645074" y="4697610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350824" y="3413670"/>
            <a:ext cx="304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423374" y="3849885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423374" y="4697610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5530" y="265167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Insights: Visitor Behavior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9" title="output_29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2175" y="2129817"/>
            <a:ext cx="3492550" cy="34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6700" y="246117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94225" y="3413670"/>
            <a:ext cx="30471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Peak Hours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8BDF8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76125" y="3826775"/>
            <a:ext cx="34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ADE80"/>
                </a:solidFill>
                <a:latin typeface="Outfit"/>
                <a:ea typeface="Outfit"/>
                <a:cs typeface="Outfit"/>
                <a:sym typeface="Outfit"/>
              </a:rPr>
              <a:t>11am, 5pm, 10pm</a:t>
            </a:r>
            <a:endParaRPr sz="200">
              <a:solidFill>
                <a:schemeClr val="dk1"/>
              </a:solidFill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ADE8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66775" y="4697610"/>
            <a:ext cx="29019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Critical pressure points for staffing, services, and network load.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BD5E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572524" y="3413670"/>
            <a:ext cx="304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45074" y="3849885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645074" y="4697610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350824" y="3413670"/>
            <a:ext cx="304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423374" y="3849885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423374" y="4697610"/>
            <a:ext cx="290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Insights: Visitor Behavior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2782" y="262386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title="output_28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4800" y="2165900"/>
            <a:ext cx="5466125" cy="33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962025" y="2587972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E8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Busiest Zones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62025" y="4570958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Suggests high purchasing activity and confirms the Main Hall as a central transit hub.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772275" y="258797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Highest </a:t>
            </a: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 spent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772275" y="4570958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Time spent is consistent with the purchasing journey (Clothes → Checkout) and natural rest (Café).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9749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1285875" y="30327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724025" y="3033712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285875" y="354517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724025" y="3546127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285875" y="405759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724025" y="4058542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Main Hall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59749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7096125" y="303276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534275" y="3033712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096125" y="354517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534275" y="3546127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7096125" y="405759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534275" y="4058542"/>
            <a:ext cx="3695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Café Area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Zone Traffic &amp; </a:t>
            </a: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 </a:t>
            </a: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/>
          <p:nvPr/>
        </p:nvSpPr>
        <p:spPr>
          <a:xfrm>
            <a:off x="1581150" y="329371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790950" y="329371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000750" y="329371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8210550" y="329371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10420350" y="329371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2286000" y="4150965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Key Insight: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The flow clearly indicates users move from purchase (Clothes → Checkout) to rest (Electronics → Café).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571500" y="337944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16267" y="2478434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Clothes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66750" y="2943225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Browsing Start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2826067" y="3388965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Checkout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2876550" y="3853755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High Conversion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5035867" y="2478434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Main Hall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5086350" y="2943225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Transit Hub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7245667" y="3388965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Entrance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296150" y="3853755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Exit/Re-entry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455467" y="2478434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Café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505950" y="2943225"/>
            <a:ext cx="20193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Rest &amp; Refresh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Movement Path Analysis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962025" y="258797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E8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Busiest Zones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62025" y="4570958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Suggests high purchasing activity and confirms the Main Hall as a central transit hub.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772275" y="258797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Highest </a:t>
            </a: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 spent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772275" y="4570958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Time spent is consistent with the purchasing journey (Clothes → Checkout) and natural rest (Café).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9749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1285875" y="303276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724025" y="303371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285875" y="354517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1724025" y="3546127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1285875" y="405759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724025" y="405854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Main Hall</a:t>
            </a:r>
            <a:endParaRPr/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59749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7096125" y="303276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7534275" y="303371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7096125" y="354517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7534275" y="3546127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7096125" y="405759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7534275" y="405854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Café Area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Zone Traffic &amp; </a:t>
            </a: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 </a:t>
            </a: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8" name="Google Shape;3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25" y="96025"/>
            <a:ext cx="12021274" cy="67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 title="output_30_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920" y="2042157"/>
            <a:ext cx="5025831" cy="29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title="output_31_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0250" y="2045231"/>
            <a:ext cx="6040326" cy="299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290925" y="307200"/>
            <a:ext cx="86538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Zone Traffic &amp; Movement Path Analysis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15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762000" y="762000"/>
            <a:ext cx="4800600" cy="889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Network Quality &amp; Hotspots</a:t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762000" y="1832371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9" name="Google Shape;3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762000" y="2222896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 Disconnect Zones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762000" y="2830562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Main Hall, Electronics, Café Area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762000" y="3466802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Root Cause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762000" y="4074467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The combination of high traffic volume and long dwell time in these specific zones leads to network saturation and performance drops.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762000" y="5259288"/>
            <a:ext cx="48006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Technical Finding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762000" y="5866953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 Normalized Heatmap analysis pinpointed these specific coordinates as needing urgent infrastructure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7447"/>
            <a:ext cx="5238750" cy="348406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/>
          <p:nvPr/>
        </p:nvSpPr>
        <p:spPr>
          <a:xfrm>
            <a:off x="962025" y="258797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ADE8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Busiest Zones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962025" y="4570958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Suggests high purchasing activity and confirms the Main Hall as a central transit hub.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772275" y="2587972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Highest </a:t>
            </a:r>
            <a:r>
              <a:rPr lang="en-US" sz="2100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 spent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772275" y="4570958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Time spent is consistent with the purchasing journey (Clothes → Checkout) and natural rest (Café).</a:t>
            </a:r>
            <a:endParaRPr/>
          </a:p>
        </p:txBody>
      </p:sp>
      <p:pic>
        <p:nvPicPr>
          <p:cNvPr descr="image.png" id="337" name="Google Shape;3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9749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1285875" y="303276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1724025" y="303371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1285875" y="354517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1724025" y="3546127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1285875" y="405759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724025" y="405854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Main Hall</a:t>
            </a:r>
            <a:endParaRPr/>
          </a:p>
        </p:txBody>
      </p:sp>
      <p:pic>
        <p:nvPicPr>
          <p:cNvPr descr="image.png" id="344" name="Google Shape;34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59749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7096125" y="303276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7534275" y="303371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Clothes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7096125" y="3545175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7534275" y="3546127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Checkout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7096125" y="405759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•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7534275" y="4058542"/>
            <a:ext cx="369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Café Area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Zone Traffic &amp; </a:t>
            </a: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 </a:t>
            </a: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Time</a:t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571500" y="1201935"/>
            <a:ext cx="11049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5" title="output_32_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6924" y="1871262"/>
            <a:ext cx="5971444" cy="38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571500" y="410175"/>
            <a:ext cx="5770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 Disconnect Zones</a:t>
            </a:r>
            <a:endParaRPr sz="315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38400"/>
            <a:ext cx="3492549" cy="3002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/>
          <p:nvPr/>
        </p:nvSpPr>
        <p:spPr>
          <a:xfrm>
            <a:off x="794225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Movement Prediction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866775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Use Markov Chains to probabilistically predict a visitor's next zone based on current location.</a:t>
            </a:r>
            <a:endParaRPr/>
          </a:p>
        </p:txBody>
      </p:sp>
      <p:pic>
        <p:nvPicPr>
          <p:cNvPr descr="image.png" id="367" name="Google Shape;36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/>
          <p:cNvSpPr txBox="1"/>
          <p:nvPr/>
        </p:nvSpPr>
        <p:spPr>
          <a:xfrm>
            <a:off x="4572524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Visitor Segmentation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4645074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Clustering algorithms to group visitors by behavior (e.g., "Focused Shoppers" vs "Casual Browsers").</a:t>
            </a:r>
            <a:endParaRPr/>
          </a:p>
        </p:txBody>
      </p:sp>
      <p:pic>
        <p:nvPicPr>
          <p:cNvPr descr="image.png" id="370" name="Google Shape;37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7336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6"/>
          <p:cNvSpPr txBox="1"/>
          <p:nvPr/>
        </p:nvSpPr>
        <p:spPr>
          <a:xfrm>
            <a:off x="8350824" y="368617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Network Optimization</a:t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8423374" y="41509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Predict Access Point (AP) overload using load heatmaps to inform dynamic re-positioning.</a:t>
            </a:r>
            <a:endParaRPr/>
          </a:p>
        </p:txBody>
      </p:sp>
      <p:pic>
        <p:nvPicPr>
          <p:cNvPr descr="image.png" id="373" name="Google Shape;37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27200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1687" y="29241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6174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Machine Learning Opportunities</a:t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 txBox="1"/>
          <p:nvPr/>
        </p:nvSpPr>
        <p:spPr>
          <a:xfrm>
            <a:off x="571500" y="2536477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KPI &amp; Traffic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6381750" y="2536477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Network Intelligence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952500" y="298221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Average Dwell Time &amp; Repeat Visitor Pie Chart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Quick snapshots of engagement.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952500" y="3768923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Peak Hour Bar Chart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Visualizing traffic density over time.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952500" y="4555628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Movement Path Sankey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Flow analysis between zones.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6762750" y="2982217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Zone Traffic Ranking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Identifying the most valuable floor space.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762750" y="3768923"/>
            <a:ext cx="4857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Disconnect Hotspot Heatmaps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Spatial analysis of network failures.</a:t>
            </a:r>
            <a:endParaRPr/>
          </a:p>
        </p:txBody>
      </p:sp>
      <p:pic>
        <p:nvPicPr>
          <p:cNvPr descr="image.png" id="390" name="Google Shape;3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508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178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849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02508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81178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7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Visualizations Used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8792"/>
            <a:ext cx="5238750" cy="3381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48792"/>
            <a:ext cx="5238750" cy="338122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8"/>
          <p:cNvSpPr txBox="1"/>
          <p:nvPr/>
        </p:nvSpPr>
        <p:spPr>
          <a:xfrm>
            <a:off x="962025" y="2639317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Business Impact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962025" y="3437483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Operational Insights: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Optimize staffing and scheduling during peak hours (11am, 5pm).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962025" y="4519463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Marketing Insights: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Optimize store placements and product adjacency (e.g., Combo Offers).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6772275" y="2639317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Technical &amp; UX</a:t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6772275" y="3437483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Technical Insights: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Proactively enhance WiFi performance and coverage in hotspot zones.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6772275" y="4519463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Behavioral Insights: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 Improve the overall customer experience by smoothing out identified pain points.</a:t>
            </a:r>
            <a:endParaRPr/>
          </a:p>
        </p:txBody>
      </p:sp>
      <p:pic>
        <p:nvPicPr>
          <p:cNvPr descr="image.png" id="410" name="Google Shape;41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4884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64884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8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Final Outcomes</a:t>
            </a:r>
            <a:endParaRPr/>
          </a:p>
        </p:txBody>
      </p:sp>
      <p:sp>
        <p:nvSpPr>
          <p:cNvPr id="413" name="Google Shape;413;p28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9"/>
          <p:cNvSpPr/>
          <p:nvPr/>
        </p:nvSpPr>
        <p:spPr>
          <a:xfrm>
            <a:off x="1581150" y="38442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4527500" y="38442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7473850" y="38442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10420201" y="38442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571500" y="39299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616267" y="2754659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Dashboarding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666750" y="3219450"/>
            <a:ext cx="2019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Build interactive Power BI / Tableau views.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3562617" y="3939480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Live Integration</a:t>
            </a:r>
            <a:endParaRPr/>
          </a:p>
        </p:txBody>
      </p:sp>
      <p:sp>
        <p:nvSpPr>
          <p:cNvPr id="427" name="Google Shape;427;p29"/>
          <p:cNvSpPr txBox="1"/>
          <p:nvPr/>
        </p:nvSpPr>
        <p:spPr>
          <a:xfrm>
            <a:off x="3613100" y="4404270"/>
            <a:ext cx="2019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Stream real-time data for operational alerts.</a:t>
            </a:r>
            <a:endParaRPr/>
          </a:p>
        </p:txBody>
      </p:sp>
      <p:sp>
        <p:nvSpPr>
          <p:cNvPr id="428" name="Google Shape;428;p29"/>
          <p:cNvSpPr txBox="1"/>
          <p:nvPr/>
        </p:nvSpPr>
        <p:spPr>
          <a:xfrm>
            <a:off x="6508968" y="2754659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Deployment</a:t>
            </a:r>
            <a:endParaRPr/>
          </a:p>
        </p:txBody>
      </p:sp>
      <p:sp>
        <p:nvSpPr>
          <p:cNvPr id="429" name="Google Shape;429;p29"/>
          <p:cNvSpPr txBox="1"/>
          <p:nvPr/>
        </p:nvSpPr>
        <p:spPr>
          <a:xfrm>
            <a:off x="6559450" y="3219450"/>
            <a:ext cx="2019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Deploy predictive models into production.</a:t>
            </a:r>
            <a:endParaRPr/>
          </a:p>
        </p:txBody>
      </p:sp>
      <p:sp>
        <p:nvSpPr>
          <p:cNvPr id="430" name="Google Shape;430;p29"/>
          <p:cNvSpPr txBox="1"/>
          <p:nvPr/>
        </p:nvSpPr>
        <p:spPr>
          <a:xfrm>
            <a:off x="9455318" y="3939480"/>
            <a:ext cx="212026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Automation</a:t>
            </a:r>
            <a:endParaRPr/>
          </a:p>
        </p:txBody>
      </p:sp>
      <p:sp>
        <p:nvSpPr>
          <p:cNvPr id="431" name="Google Shape;431;p29"/>
          <p:cNvSpPr txBox="1"/>
          <p:nvPr/>
        </p:nvSpPr>
        <p:spPr>
          <a:xfrm>
            <a:off x="9505801" y="4404270"/>
            <a:ext cx="2019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Automate weekly &amp; monthly reporting.</a:t>
            </a:r>
            <a:endParaRPr/>
          </a:p>
        </p:txBody>
      </p:sp>
      <p:sp>
        <p:nvSpPr>
          <p:cNvPr id="432" name="Google Shape;432;p29"/>
          <p:cNvSpPr txBox="1"/>
          <p:nvPr/>
        </p:nvSpPr>
        <p:spPr>
          <a:xfrm>
            <a:off x="571500" y="5715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Next Steps</a:t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571500" y="120193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6712" y="1670744"/>
            <a:ext cx="3838575" cy="351651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0"/>
          <p:cNvSpPr txBox="1"/>
          <p:nvPr/>
        </p:nvSpPr>
        <p:spPr>
          <a:xfrm>
            <a:off x="4700825" y="2261294"/>
            <a:ext cx="279034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5619750" y="3133725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4767262" y="3457575"/>
            <a:ext cx="26574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Ziad Adel</a:t>
            </a:r>
            <a:endParaRPr/>
          </a:p>
        </p:txBody>
      </p:sp>
      <p:sp>
        <p:nvSpPr>
          <p:cNvPr id="443" name="Google Shape;443;p30"/>
          <p:cNvSpPr txBox="1"/>
          <p:nvPr/>
        </p:nvSpPr>
        <p:spPr>
          <a:xfrm>
            <a:off x="4767262" y="4150965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 Light"/>
                <a:ea typeface="Outfit Light"/>
                <a:cs typeface="Outfit Light"/>
                <a:sym typeface="Outfit Light"/>
              </a:rPr>
              <a:t>Open for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